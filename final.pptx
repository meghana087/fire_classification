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CustomShape 2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ln>
            <a:noFill/>
          </a:ln>
        </p:spPr>
      </p:pic>
      <p:sp>
        <p:nvSpPr>
          <p:cNvPr id="4" name="CustomShape 3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ln>
            <a:noFill/>
          </a:ln>
        </p:spPr>
      </p:pic>
      <p:sp>
        <p:nvSpPr>
          <p:cNvPr id="44" name="CustomShape 1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l="0"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ln>
            <a:noFill/>
          </a:ln>
        </p:spPr>
      </p:pic>
      <p:sp>
        <p:nvSpPr>
          <p:cNvPr id="47" name="CustomShape 3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freepik.com/" TargetMode="Externa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hyperlink" Target="https://github.com/Meghana087/Fire_Classification.git" TargetMode="External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A person sitting at a desk with a computer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</p:pic>
      <p:sp>
        <p:nvSpPr>
          <p:cNvPr id="87" name="CustomShape 1"/>
          <p:cNvSpPr/>
          <p:nvPr/>
        </p:nvSpPr>
        <p:spPr>
          <a:xfrm>
            <a:off x="5873760" y="584280"/>
            <a:ext cx="4673160" cy="9774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2"/>
          <p:cNvSpPr/>
          <p:nvPr/>
        </p:nvSpPr>
        <p:spPr>
          <a:xfrm>
            <a:off x="4151520" y="3429000"/>
            <a:ext cx="68706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IN" sz="3600" spc="-1" strike="noStrike">
                <a:solidFill>
                  <a:srgbClr val="ffffff"/>
                </a:solidFill>
                <a:latin typeface="Calibri"/>
                <a:ea typeface="Arial"/>
              </a:rPr>
              <a:t>FIRE CLASSIFICATION</a:t>
            </a:r>
            <a:endParaRPr b="0" lang="en-IN" sz="3600" spc="-1" strike="noStrike">
              <a:latin typeface="Times New Roman"/>
            </a:endParaRPr>
          </a:p>
        </p:txBody>
      </p:sp>
      <p:pic>
        <p:nvPicPr>
          <p:cNvPr id="89" name="Picture 6" descr="A close up of a logo&#10;&#10;Description automatically generated"/>
          <p:cNvPicPr/>
          <p:nvPr/>
        </p:nvPicPr>
        <p:blipFill>
          <a:blip r:embed="rId2"/>
          <a:stretch/>
        </p:blipFill>
        <p:spPr>
          <a:xfrm>
            <a:off x="8267400" y="869040"/>
            <a:ext cx="1262880" cy="410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91880" y="972360"/>
            <a:ext cx="26524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213163"/>
                </a:solidFill>
                <a:latin typeface="Arial"/>
                <a:ea typeface="Arial"/>
              </a:rPr>
              <a:t>Learning Objectives</a:t>
            </a:r>
            <a:endParaRPr b="0" lang="en-IN" sz="2000" spc="-1" strike="noStrike">
              <a:latin typeface="Times New Roman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199800" y="6135480"/>
            <a:ext cx="7956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Arial"/>
              </a:rPr>
              <a:t>Source : 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880560" y="6135480"/>
            <a:ext cx="18421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IN" sz="1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"/>
              </a:rPr>
              <a:t>www.freepik.com/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3" name="Line 4"/>
          <p:cNvSpPr/>
          <p:nvPr/>
        </p:nvSpPr>
        <p:spPr>
          <a:xfrm>
            <a:off x="0" y="6055200"/>
            <a:ext cx="12191760" cy="0"/>
          </a:xfrm>
          <a:prstGeom prst="line">
            <a:avLst/>
          </a:prstGeom>
          <a:ln w="12600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4" name="Picture 5" descr="A ladder leading to a large yellow circle&#10;&#10;Description automatically generated"/>
          <p:cNvPicPr/>
          <p:nvPr/>
        </p:nvPicPr>
        <p:blipFill>
          <a:blip r:embed="rId2">
            <a:alphaModFix amt="85000"/>
          </a:blip>
          <a:srcRect l="13761" t="6135" r="13648" b="0"/>
          <a:stretch/>
        </p:blipFill>
        <p:spPr>
          <a:xfrm>
            <a:off x="7345800" y="1442880"/>
            <a:ext cx="4500360" cy="4632480"/>
          </a:xfrm>
          <a:prstGeom prst="rect">
            <a:avLst/>
          </a:prstGeom>
          <a:ln>
            <a:noFill/>
          </a:ln>
        </p:spPr>
      </p:pic>
      <p:sp>
        <p:nvSpPr>
          <p:cNvPr id="95" name="CustomShape 5"/>
          <p:cNvSpPr/>
          <p:nvPr/>
        </p:nvSpPr>
        <p:spPr>
          <a:xfrm>
            <a:off x="8839080" y="3168720"/>
            <a:ext cx="1503360" cy="62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IN" sz="3500" spc="-1" strike="noStrike">
                <a:solidFill>
                  <a:srgbClr val="000000"/>
                </a:solidFill>
                <a:latin typeface="Arial"/>
                <a:ea typeface="Arial"/>
              </a:rPr>
              <a:t>GOAL</a:t>
            </a:r>
            <a:endParaRPr b="0" lang="en-IN" sz="3500" spc="-1" strike="noStrike">
              <a:latin typeface="Times New Roman"/>
            </a:endParaRPr>
          </a:p>
        </p:txBody>
      </p:sp>
      <p:sp>
        <p:nvSpPr>
          <p:cNvPr id="96" name="TextShape 6"/>
          <p:cNvSpPr txBox="1"/>
          <p:nvPr/>
        </p:nvSpPr>
        <p:spPr>
          <a:xfrm>
            <a:off x="504000" y="1861200"/>
            <a:ext cx="6192000" cy="3866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Understand the use of MODIS satellite data for fire detection</a:t>
            </a:r>
            <a:endParaRPr b="0" lang="en-IN" sz="2000" spc="-1" strike="noStrike">
              <a:latin typeface="Times New Roman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Identify key features influencing fire classification</a:t>
            </a:r>
            <a:endParaRPr b="0" lang="en-IN" sz="2000" spc="-1" strike="noStrike">
              <a:latin typeface="Times New Roman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Preprocess geospatial data for machine learning</a:t>
            </a:r>
            <a:endParaRPr b="0" lang="en-IN" sz="2000" spc="-1" strike="noStrike">
              <a:latin typeface="Times New Roman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Build and evaluate a fire classification model</a:t>
            </a:r>
            <a:endParaRPr b="0" lang="en-IN" sz="2000" spc="-1" strike="noStrike">
              <a:latin typeface="Times New Roman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Deploy the model using a Streamlit web app</a:t>
            </a:r>
            <a:endParaRPr b="0" lang="en-IN" sz="2000" spc="-1" strike="noStrike">
              <a:latin typeface="Times New Roman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Apply AI for real-world environmental monitoring</a:t>
            </a:r>
            <a:endParaRPr b="0" lang="en-IN" sz="2000" spc="-1" strike="noStrike">
              <a:latin typeface="Times New Roman"/>
            </a:endParaRPr>
          </a:p>
          <a:p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135720" y="106776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13163"/>
                </a:solidFill>
                <a:latin typeface="Arial"/>
                <a:ea typeface="Arial"/>
              </a:rPr>
              <a:t>T</a:t>
            </a:r>
            <a:r>
              <a:rPr b="1" lang="en-IN" sz="2000" spc="-1" strike="noStrike">
                <a:solidFill>
                  <a:srgbClr val="213163"/>
                </a:solidFill>
                <a:latin typeface="Arial"/>
                <a:ea typeface="Arial"/>
              </a:rPr>
              <a:t>ools and Technology used </a:t>
            </a:r>
            <a:endParaRPr b="0" lang="en-IN" sz="2000" spc="-1" strike="noStrike">
              <a:latin typeface="Times New Roman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648000" y="1656000"/>
            <a:ext cx="2248920" cy="760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endParaRPr b="0" lang="en-IN" sz="1000" spc="-1" strike="noStrike">
              <a:latin typeface="Times New Roman"/>
            </a:endParaRPr>
          </a:p>
          <a:p>
            <a:endParaRPr b="0" lang="en-IN" sz="1000" spc="-1" strike="noStrike">
              <a:latin typeface="Times New Roman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594360" y="1903320"/>
            <a:ext cx="9197640" cy="4703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Python</a:t>
            </a:r>
            <a:r>
              <a:rPr b="0" lang="en-IN" sz="2000" spc="-1" strike="noStrike">
                <a:latin typeface="Times New Roman"/>
              </a:rPr>
              <a:t> - Core programming language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Jupyter Notebook</a:t>
            </a:r>
            <a:r>
              <a:rPr b="0" lang="en-IN" sz="2000" spc="-1" strike="noStrike">
                <a:latin typeface="Times New Roman"/>
              </a:rPr>
              <a:t> - Data analysis and model development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Pandas &amp; NumPy</a:t>
            </a:r>
            <a:r>
              <a:rPr b="0" lang="en-IN" sz="2000" spc="-1" strike="noStrike">
                <a:latin typeface="Times New Roman"/>
              </a:rPr>
              <a:t> - Data manipulation and numerical operations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Scikit-learn </a:t>
            </a:r>
            <a:r>
              <a:rPr b="0" lang="en-IN" sz="2000" spc="-1" strike="noStrike">
                <a:latin typeface="Times New Roman"/>
              </a:rPr>
              <a:t>- Machine learning model training and evaluation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Joblib</a:t>
            </a:r>
            <a:r>
              <a:rPr b="0" lang="en-IN" sz="2000" spc="-1" strike="noStrike">
                <a:latin typeface="Times New Roman"/>
              </a:rPr>
              <a:t> - Model and scaler serialization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Streamlit </a:t>
            </a:r>
            <a:r>
              <a:rPr b="0" lang="en-IN" sz="2000" spc="-1" strike="noStrike">
                <a:latin typeface="Times New Roman"/>
              </a:rPr>
              <a:t>- Web app development for model deployment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MODIS Satellite Data (CSV)</a:t>
            </a:r>
            <a:r>
              <a:rPr b="0" lang="en-IN" sz="2000" spc="-1" strike="noStrike">
                <a:latin typeface="Times New Roman"/>
              </a:rPr>
              <a:t> - Source of real-world fire event data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Matplotlib / Seaborn</a:t>
            </a:r>
            <a:r>
              <a:rPr b="0" lang="en-IN" sz="2000" spc="-1" strike="noStrike">
                <a:latin typeface="Times New Roman"/>
              </a:rPr>
              <a:t> - For data visualization</a:t>
            </a:r>
            <a:endParaRPr b="0" lang="en-IN" sz="2000" spc="-1" strike="noStrike">
              <a:latin typeface="Times New Roman"/>
            </a:endParaRPr>
          </a:p>
          <a:p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268200" y="101448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13163"/>
                </a:solidFill>
                <a:latin typeface="Arial"/>
                <a:ea typeface="Arial"/>
              </a:rPr>
              <a:t>Methodology</a:t>
            </a:r>
            <a:r>
              <a:rPr b="1" lang="en-US" sz="1800" spc="-1" strike="noStrike">
                <a:solidFill>
                  <a:srgbClr val="213163"/>
                </a:solidFill>
                <a:latin typeface="Arial"/>
                <a:ea typeface="Arial"/>
              </a:rPr>
              <a:t> 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369360" y="1728000"/>
            <a:ext cx="10214640" cy="4703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Data Collection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-Collected MODIS fire data for India (2021-2023) in CSV format.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Data Preprocessing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-Cleaned missing values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-Encoded categorical features (e.g., confidence level)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-Scaled numerical data using StandardScaler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Feature Selection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-Selected key attributes: brightness, bright_t31, FRP, scan, track, confidence</a:t>
            </a:r>
            <a:endParaRPr b="0" lang="en-IN" sz="2000" spc="-1" strike="noStrike">
              <a:latin typeface="Times New Roman"/>
            </a:endParaRPr>
          </a:p>
          <a:p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216000" y="792000"/>
            <a:ext cx="11376000" cy="5832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Model Training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-Trained a supervised machine learning model (e.g., Random Forest or SVM)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-Tuned hyperparameters and evaluated using accuracy and confusion matrix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Model Saving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-Saved trained model and scaler using joblib for deployment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App Development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-Built an interactive UI using Streamlit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-Integrated model to take user input and predict fire type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Deployment &amp; Testing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-Ran app locally to test prediction results for different input combinations</a:t>
            </a:r>
            <a:endParaRPr b="0" lang="en-IN" sz="2000" spc="-1" strike="noStrike">
              <a:latin typeface="Times New Roman"/>
            </a:endParaRPr>
          </a:p>
          <a:p>
            <a:endParaRPr b="0" lang="en-IN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255240" y="105444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13163"/>
                </a:solidFill>
                <a:latin typeface="Arial"/>
                <a:ea typeface="Arial"/>
              </a:rPr>
              <a:t>Problem Statement:  </a:t>
            </a:r>
            <a:endParaRPr b="0" lang="en-IN" sz="2000" spc="-1" strike="noStrike">
              <a:latin typeface="Times New Roman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576000" y="1844640"/>
            <a:ext cx="10440000" cy="4444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India experiences various types of fire incidents, including vegetation fires, offshore fires, and static land source fires, which can cause severe environmental and economic damage.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However, manual monitoring is slow, and distinguishing between fire types using raw satellite data is challenging.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There is a need for an automated system that can accurately classify fire types using satellite data to support faster and more informed response strategies.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pc="-1" strike="noStrike">
                <a:latin typeface="Times New Roman"/>
              </a:rPr>
              <a:t> </a:t>
            </a:r>
            <a:endParaRPr b="0" lang="en-IN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255240" y="105444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13163"/>
                </a:solidFill>
                <a:latin typeface="Arial"/>
                <a:ea typeface="Arial"/>
              </a:rPr>
              <a:t>Solution:  </a:t>
            </a:r>
            <a:endParaRPr b="0" lang="en-IN" sz="2000" spc="-1" strike="noStrike">
              <a:latin typeface="Times New Roman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559800" y="1670400"/>
            <a:ext cx="10600200" cy="4953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200" spc="-1" strike="noStrike">
                <a:latin typeface="Times New Roman"/>
              </a:rPr>
              <a:t>Problem:</a:t>
            </a:r>
            <a:endParaRPr b="0" lang="en-IN" sz="2200" spc="-1" strike="noStrike">
              <a:latin typeface="Times New Roman"/>
            </a:endParaRPr>
          </a:p>
          <a:p>
            <a:pPr lvl="1" marL="432000" indent="-216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-Fire incidents in India vary in type and impact Manual monitoring is slow and lacks precision</a:t>
            </a:r>
            <a:endParaRPr b="0" lang="en-IN" sz="22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-Raw satellite data is difficult to interpret without automation</a:t>
            </a:r>
            <a:endParaRPr b="0" lang="en-IN" sz="22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200" spc="-1" strike="noStrike">
                <a:latin typeface="Times New Roman"/>
              </a:rPr>
              <a:t>Proposed Solution:</a:t>
            </a:r>
            <a:endParaRPr b="0" lang="en-IN" sz="22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-Use MODIS satellite data and machine learning</a:t>
            </a:r>
            <a:endParaRPr b="0" lang="en-IN" sz="22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-Automatically classify fire types</a:t>
            </a:r>
            <a:endParaRPr b="0" lang="en-IN" sz="22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-Improve speed and accuracy of fire detection</a:t>
            </a:r>
            <a:endParaRPr b="0" lang="en-IN" sz="2200" spc="-1" strike="noStrike">
              <a:latin typeface="Times New Roman"/>
            </a:endParaRPr>
          </a:p>
          <a:p>
            <a:endParaRPr b="0" lang="en-IN" sz="2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504000" y="1152000"/>
            <a:ext cx="10152000" cy="534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2600" spc="-1" strike="noStrike">
                <a:latin typeface="Times New Roman"/>
              </a:rPr>
              <a:t>Solution Implementation</a:t>
            </a:r>
            <a:endParaRPr b="1" lang="en-IN" sz="26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Data Processing &amp; Modeling: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-Cleaned and preprocessed MODIS data (2021-2023)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-Selected key features: Brightness, FRP, Confidence, etc.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-Trained a supervised ML model (e.g., Random Forest or SVM)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IN" sz="2000" spc="-1" strike="noStrike">
                <a:latin typeface="Times New Roman"/>
              </a:rPr>
              <a:t>Deployment: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-Built a Streamlit web app for real-time predictions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-Inputs: Satellite feature values</a:t>
            </a:r>
            <a:endParaRPr b="0" lang="en-IN" sz="2000" spc="-1" strike="noStrike">
              <a:latin typeface="Times New Roman"/>
            </a:endParaRPr>
          </a:p>
          <a:p>
            <a:pPr lvl="1" marL="432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Times New Roman"/>
              </a:rPr>
              <a:t>-Output: Fire Type prediction (Vegetation / Offshore / Static Land)</a:t>
            </a:r>
            <a:endParaRPr b="0" lang="en-IN" sz="20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pc="-1" strike="noStrike">
                <a:latin typeface="Times New Roman"/>
              </a:rPr>
              <a:t> </a:t>
            </a:r>
            <a:endParaRPr b="0" lang="en-IN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255240" y="105444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13163"/>
                </a:solidFill>
                <a:latin typeface="Arial"/>
                <a:ea typeface="Arial"/>
              </a:rPr>
              <a:t>Screenshot of Output:  </a:t>
            </a:r>
            <a:endParaRPr b="0" lang="en-IN" sz="2000" spc="-1" strike="noStrike">
              <a:latin typeface="Times New Roman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288000" y="1602000"/>
            <a:ext cx="5288400" cy="5256000"/>
          </a:xfrm>
          <a:prstGeom prst="rect">
            <a:avLst/>
          </a:prstGeom>
          <a:ln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6120000" y="864000"/>
            <a:ext cx="5288400" cy="5976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360000" y="864000"/>
            <a:ext cx="5288400" cy="5832000"/>
          </a:xfrm>
          <a:prstGeom prst="rect">
            <a:avLst/>
          </a:prstGeom>
          <a:ln>
            <a:noFill/>
          </a:ln>
        </p:spPr>
      </p:pic>
      <p:sp>
        <p:nvSpPr>
          <p:cNvPr id="112" name="TextShape 1"/>
          <p:cNvSpPr txBox="1"/>
          <p:nvPr/>
        </p:nvSpPr>
        <p:spPr>
          <a:xfrm>
            <a:off x="6048000" y="1080000"/>
            <a:ext cx="3397680" cy="6530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2800" spc="-1" strike="noStrike">
                <a:latin typeface="Times New Roman"/>
              </a:rPr>
              <a:t>Github Link:</a:t>
            </a:r>
            <a:endParaRPr b="1" lang="en-IN" sz="2800" spc="-1" strike="noStrike">
              <a:latin typeface="Times New Roman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6120000" y="1732680"/>
            <a:ext cx="5832000" cy="1291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2400" spc="-1" strike="noStrike">
                <a:latin typeface="Times New Roman"/>
                <a:hlinkClick r:id="rId2"/>
              </a:rPr>
              <a:t>https://github.com/Meghana087/Fire_Classification.git</a:t>
            </a:r>
            <a:endParaRPr b="0" lang="en-IN" sz="2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49040" y="988200"/>
            <a:ext cx="61023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13163"/>
                </a:solidFill>
                <a:latin typeface="Arial"/>
                <a:ea typeface="Arial"/>
              </a:rPr>
              <a:t>Conclusion:</a:t>
            </a:r>
            <a:r>
              <a:rPr b="1" lang="en-US" sz="1800" spc="-1" strike="noStrike">
                <a:solidFill>
                  <a:srgbClr val="213163"/>
                </a:solidFill>
                <a:latin typeface="Arial"/>
                <a:ea typeface="Arial"/>
              </a:rPr>
              <a:t>  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504000" y="1700280"/>
            <a:ext cx="10584000" cy="36277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Successfully built a machine learning model to classify fire types using MODIS satellite data</a:t>
            </a:r>
            <a:endParaRPr b="0" lang="en-IN" sz="22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Preprocessed and analyzed data from 2021 to 2023 for improved accuracy</a:t>
            </a:r>
            <a:endParaRPr b="0" lang="en-IN" sz="22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Deployed an interactive Streamlit web app for real-time fire type prediction</a:t>
            </a:r>
            <a:endParaRPr b="0" lang="en-IN" sz="2200" spc="-1" strike="noStrike"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200" spc="-1" strike="noStrike">
                <a:latin typeface="Times New Roman"/>
              </a:rPr>
              <a:t>This solution enhances early detection, aids quicker response, and supports environmental monitoring efforts in India</a:t>
            </a:r>
            <a:endParaRPr b="0" lang="en-IN" sz="2200" spc="-1" strike="noStrike">
              <a:latin typeface="Times New Roman"/>
            </a:endParaRPr>
          </a:p>
          <a:p>
            <a:endParaRPr b="0" lang="en-IN" sz="2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4813920" y="3191760"/>
            <a:ext cx="2736000" cy="1656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IN" sz="3600" spc="-1" strike="noStrike">
                <a:latin typeface="Times New Roman"/>
              </a:rPr>
              <a:t>Thank You!</a:t>
            </a:r>
            <a:endParaRPr b="1" lang="en-IN" sz="3600" spc="-1" strike="noStrike">
              <a:latin typeface="Times New Roman"/>
            </a:endParaRPr>
          </a:p>
          <a:p>
            <a:endParaRPr b="0" lang="en-IN" sz="3600" spc="-1" strike="noStrike">
              <a:latin typeface="Times New Roman"/>
            </a:endParaRPr>
          </a:p>
          <a:p>
            <a:endParaRPr b="0" lang="en-IN" sz="3600" spc="-1" strike="noStrike">
              <a:latin typeface="Times New Roman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7480800" y="5802120"/>
            <a:ext cx="5091120" cy="652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2200" spc="-1" strike="noStrike">
                <a:latin typeface="Times New Roman"/>
              </a:rPr>
              <a:t> </a:t>
            </a:r>
            <a:r>
              <a:rPr b="0" lang="en-IN" sz="22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Presented by:        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0" lang="en-IN" sz="1800" spc="-1" strike="noStrike">
                <a:latin typeface="Times New Roman"/>
              </a:rPr>
              <a:t>	</a:t>
            </a:r>
            <a:r>
              <a:rPr b="1" lang="en-IN" sz="1800" spc="-1" strike="noStrike">
                <a:latin typeface="Times New Roman"/>
              </a:rPr>
              <a:t>Meghana Doradla</a:t>
            </a:r>
            <a:endParaRPr b="0" lang="en-IN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19</TotalTime>
  <Application>LibreOffice/6.4.7.2$Linux_X86_64 LibreOffice_project/40$Build-2</Application>
  <Words>31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2024-12-31T09:40:01Z</dcterms:created>
  <dc:creator>Mahesh Kurhe</dc:creator>
  <dc:description/>
  <dc:language>en-IN</dc:language>
  <cp:lastModifiedBy/>
  <dcterms:modified xsi:type="dcterms:W3CDTF">2025-07-31T14:37:21Z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8</vt:i4>
  </property>
</Properties>
</file>